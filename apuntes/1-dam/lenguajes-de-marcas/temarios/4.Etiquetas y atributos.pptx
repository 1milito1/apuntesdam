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ebcec830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gebcec830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indent="0" lvl="1" marL="457200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0" lvl="2" marL="914400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0" lvl="3" marL="1371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0" lvl="4" marL="18288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64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rtl="0">
              <a:spcBef>
                <a:spcPts val="560"/>
              </a:spcBef>
              <a:spcAft>
                <a:spcPts val="0"/>
              </a:spcAft>
              <a:buSzPts val="1400"/>
              <a:buChar char="–"/>
              <a:defRPr/>
            </a:lvl2pPr>
            <a:lvl3pPr indent="-317500" lvl="2" marL="1371600" rtl="0">
              <a:spcBef>
                <a:spcPts val="48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rtl="0">
              <a:spcBef>
                <a:spcPts val="400"/>
              </a:spcBef>
              <a:spcAft>
                <a:spcPts val="0"/>
              </a:spcAft>
              <a:buSzPts val="1400"/>
              <a:buChar char="–"/>
              <a:defRPr/>
            </a:lvl4pPr>
            <a:lvl5pPr indent="-317500" lvl="4" marL="2286000" rtl="0">
              <a:spcBef>
                <a:spcPts val="400"/>
              </a:spcBef>
              <a:spcAft>
                <a:spcPts val="0"/>
              </a:spcAft>
              <a:buSzPts val="1400"/>
              <a:buChar char="»"/>
              <a:defRPr/>
            </a:lvl5pPr>
            <a:lvl6pPr indent="-317500" lvl="5" marL="27432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rtl="0">
              <a:spcBef>
                <a:spcPts val="640"/>
              </a:spcBef>
              <a:spcAft>
                <a:spcPts val="0"/>
              </a:spcAft>
              <a:buSzPts val="1400"/>
              <a:buFont typeface="Calibri"/>
              <a:buNone/>
              <a:defRPr/>
            </a:lvl1pPr>
            <a:lvl2pPr indent="-228600" lvl="1" marL="914400" rtl="0">
              <a:spcBef>
                <a:spcPts val="560"/>
              </a:spcBef>
              <a:spcAft>
                <a:spcPts val="0"/>
              </a:spcAft>
              <a:buSzPts val="1400"/>
              <a:buFont typeface="Calibri"/>
              <a:buNone/>
              <a:defRPr/>
            </a:lvl2pPr>
            <a:lvl3pPr indent="-228600" lvl="2" marL="1371600" rtl="0">
              <a:spcBef>
                <a:spcPts val="480"/>
              </a:spcBef>
              <a:spcAft>
                <a:spcPts val="0"/>
              </a:spcAft>
              <a:buSzPts val="1400"/>
              <a:buFont typeface="Calibri"/>
              <a:buNone/>
              <a:defRPr/>
            </a:lvl3pPr>
            <a:lvl4pPr indent="-228600" lvl="3" marL="1828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4pPr>
            <a:lvl5pPr indent="-228600" lvl="4" marL="22860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5pPr>
            <a:lvl6pPr indent="-228600" lvl="5" marL="27432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6pPr>
            <a:lvl7pPr indent="-228600" lvl="6" marL="32004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7pPr>
            <a:lvl8pPr indent="-228600" lvl="7" marL="36576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8pPr>
            <a:lvl9pPr indent="-228600" lvl="8" marL="4114800" rtl="0">
              <a:spcBef>
                <a:spcPts val="400"/>
              </a:spcBef>
              <a:spcAft>
                <a:spcPts val="0"/>
              </a:spcAft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1pPr>
            <a:lvl2pPr indent="-88900" lvl="1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1pPr>
            <a:lvl2pPr indent="-3175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2pPr>
            <a:lvl3pPr indent="-3175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–"/>
              <a:defRPr/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»"/>
              <a:defRPr/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/>
            </a:lvl1pPr>
            <a:lvl2pPr indent="0" lvl="1" marL="0" marR="0" rtl="0" algn="r">
              <a:buNone/>
              <a:defRPr/>
            </a:lvl2pPr>
            <a:lvl3pPr indent="0" lvl="2" marL="0" marR="0" rtl="0" algn="r">
              <a:buNone/>
              <a:defRPr/>
            </a:lvl3pPr>
            <a:lvl4pPr indent="0" lvl="3" marL="0" marR="0" rtl="0" algn="r">
              <a:buNone/>
              <a:defRPr/>
            </a:lvl4pPr>
            <a:lvl5pPr indent="0" lvl="4" marL="0" marR="0" rtl="0" algn="r">
              <a:buNone/>
              <a:defRPr/>
            </a:lvl5pPr>
            <a:lvl6pPr indent="0" lvl="5" marL="0" marR="0" rtl="0" algn="r">
              <a:buNone/>
              <a:defRPr/>
            </a:lvl6pPr>
            <a:lvl7pPr indent="0" lvl="6" marL="0" marR="0" rtl="0" algn="r">
              <a:buNone/>
              <a:defRPr/>
            </a:lvl7pPr>
            <a:lvl8pPr indent="0" lvl="7" marL="0" marR="0" rtl="0" algn="r">
              <a:buNone/>
              <a:defRPr/>
            </a:lvl8pPr>
            <a:lvl9pPr indent="0" lvl="8" marL="0" marR="0" rtl="0" algn="r">
              <a:buNone/>
              <a:defRPr/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s-ES" sz="5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Etiquetas, atributos y etiquetas vacías</a:t>
            </a:r>
            <a:endParaRPr b="0" i="0" sz="5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</a:pPr>
            <a:r>
              <a:rPr b="0" i="0" lang="es-ES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Esteban Álvarez</a:t>
            </a:r>
            <a:endParaRPr b="0" i="0" sz="3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etiqueta 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XML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todo lo que va desde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incluído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 de apertura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hasta (incluído) la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 de cierre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etiqueta puede contener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otras etiquetas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 mezcla de lo anterior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etiquetas XML deben seguir las siguientes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reglas de nombres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Pueden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contener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letras, números y otros caracteres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pueden empezar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 un número o un signo de puntuación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pueden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empezar por las letras xml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pueden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contener espacios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puede usar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cualquier nombre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no hay palabras reservadas</a:t>
            </a:r>
            <a:endParaRPr/>
          </a:p>
          <a:p>
            <a:pPr indent="0" lvl="0" marL="45720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Calibri"/>
              <a:buChar char="•"/>
            </a:pP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Buenas prácticas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–"/>
            </a:pP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los nombres </a:t>
            </a:r>
            <a:r>
              <a:rPr b="1"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descriptivos: 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&gt;, &lt;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apellidos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&gt;.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–"/>
            </a:pP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Nombres </a:t>
            </a:r>
            <a:r>
              <a:rPr b="1"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cortos y simples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&lt;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titulo_libro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lugar de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&lt;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el_titulo_del_libro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–"/>
            </a:pPr>
            <a:r>
              <a:rPr b="1"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 </a:t>
            </a:r>
            <a:r>
              <a:rPr b="1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"-"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llamas a una etiqueta “titulo-libro” puede pensar que estas restando libro de título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–"/>
            </a:pPr>
            <a:r>
              <a:rPr b="1"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</a:t>
            </a:r>
            <a:r>
              <a:rPr b="1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"."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titulo.libro se puede interpetar como que libro es una propiedad de titulo</a:t>
            </a:r>
            <a:endParaRPr/>
          </a:p>
          <a:p>
            <a:pPr indent="0" lvl="0" marL="45720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457200" y="274638"/>
            <a:ext cx="82296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457200" y="1070882"/>
            <a:ext cx="82296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Calibri"/>
              <a:buChar char="•"/>
            </a:pP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Buenas prácticas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–"/>
            </a:pPr>
            <a:r>
              <a:rPr b="1"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</a:t>
            </a:r>
            <a:r>
              <a:rPr b="1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":".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un caracter reservado para espacios de nombres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–"/>
            </a:pPr>
            <a:r>
              <a:rPr b="1"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caracteres no ingleses</a:t>
            </a:r>
            <a:r>
              <a:rPr b="1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</a:t>
            </a:r>
            <a:r>
              <a:rPr b="0" i="0" lang="es-E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éòáñ </a:t>
            </a:r>
            <a:r>
              <a:rPr lang="es-E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están perfectamente permitidos pero se deberían evitar por si hubiese problemas con otras aplicaciones externas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hay ninguna regla sobre la nomenclatura de etiquetas XML.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97100"/>
            <a:ext cx="9144001" cy="2594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 vacías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Calibri"/>
              <a:buChar char="•"/>
            </a:pP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Sintaxis para etiquetas </a:t>
            </a:r>
            <a:r>
              <a:rPr b="1"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contenido</a:t>
            </a:r>
            <a:r>
              <a:rPr b="0" i="0" lang="es-ES" sz="2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95275" lvl="1" marL="742950" marR="0" rtl="0" algn="l">
              <a:spcBef>
                <a:spcPts val="59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Calibri"/>
              <a:buChar char="–"/>
            </a:pP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lugar de escribir una etiqueta para libro como esta:</a:t>
            </a:r>
            <a:endParaRPr/>
          </a:p>
          <a:p>
            <a:pPr indent="0" lvl="0" marL="0" marR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sz="2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742950" marR="0" rtl="0" algn="l">
              <a:spcBef>
                <a:spcPts val="590"/>
              </a:spcBef>
              <a:spcAft>
                <a:spcPts val="0"/>
              </a:spcAft>
              <a:buClr>
                <a:schemeClr val="dk1"/>
              </a:buClr>
              <a:buSzPts val="2950"/>
              <a:buFont typeface="Calibri"/>
              <a:buChar char="–"/>
            </a:pPr>
            <a:r>
              <a:rPr lang="es-ES" sz="2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Podemos escribirlo así</a:t>
            </a:r>
            <a:endParaRPr/>
          </a:p>
          <a:p>
            <a:pPr indent="-154940" lvl="0" marL="342900" marR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Calibri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4940" lvl="0" marL="342900" marR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ts val="2960"/>
              <a:buFont typeface="Calibri"/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590"/>
              </a:spcBef>
              <a:spcAft>
                <a:spcPts val="0"/>
              </a:spcAft>
              <a:buNone/>
            </a:pPr>
            <a:r>
              <a:t/>
            </a:r>
            <a:endParaRPr b="0" i="0" sz="2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0600" y="2679700"/>
            <a:ext cx="20828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38500" y="4419314"/>
            <a:ext cx="13589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i="0" lang="es-E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</a:t>
            </a: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1" i="0" lang="es-ES" sz="39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etiquetas XML pueden llevar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atributos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como en HTML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atributos dan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información adicional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sobre una etiqueta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valores siempre deben ir entre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comillas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Pueden ser dobles o simples</a:t>
            </a:r>
            <a:endParaRPr/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4300" y="3323772"/>
            <a:ext cx="3835400" cy="73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2014" y="5471886"/>
            <a:ext cx="33274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72014" y="5849258"/>
            <a:ext cx="33782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 vs. Atributos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Mira los siguientes ejemplos: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0400" y="1895928"/>
            <a:ext cx="5270500" cy="138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5800" y="3641272"/>
            <a:ext cx="5245100" cy="17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 vs. Atributos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Mira los siguientes ejemplos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primero, sexo es un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atributo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el siguiente, sexo es una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Ambos XML dan la misma información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hay reglas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 cuándo usar atributos o etiquetas para almacenar un valor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atributo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son muy útiles en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HTML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Pero en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XML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recomendable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evitarlos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usar etiquetas en su lugar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3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 vs. Atributos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3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siguientes tres documentos XML contienen exactamente la misma información</a:t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Date se guarda como atributo en el siguiente ejemplo</a:t>
            </a:r>
            <a:r>
              <a:rPr b="0" i="0" lang="es-E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100" y="3276600"/>
            <a:ext cx="8039100" cy="217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 vs. Atributos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4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segundo utiliza una etiqueta date: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" y="2966358"/>
            <a:ext cx="8064500" cy="25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 vs. Atributos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5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tercero utiliza una etiqueta date más completa:</a:t>
            </a:r>
            <a:endParaRPr/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792" y="2926443"/>
            <a:ext cx="7562507" cy="3639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 vs. Atributos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6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Algunos de los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 usar atributos son: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atributo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pueden tener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múltiples valores</a:t>
            </a: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(las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 sí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atributo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pueden contener una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estructura en árbol</a:t>
            </a:r>
            <a:r>
              <a:rPr b="1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etiquetas sí</a:t>
            </a:r>
            <a:r>
              <a:rPr b="0" i="0" lang="es-E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atributos no son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fácilmente ampliables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(para futuros cambios)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atributos son </a:t>
            </a:r>
            <a:r>
              <a:rPr b="1"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difíciles de leer</a:t>
            </a:r>
            <a:r>
              <a:rPr lang="es-E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mantener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457200" y="274638"/>
            <a:ext cx="8229600" cy="6965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1" lang="es-ES" sz="39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Etiquetas vs. Atributos</a:t>
            </a:r>
            <a:endParaRPr b="1" i="0" sz="3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>
            <p:ph idx="1" type="body"/>
          </p:nvPr>
        </p:nvSpPr>
        <p:spPr>
          <a:xfrm>
            <a:off x="457200" y="1070882"/>
            <a:ext cx="8229600" cy="5541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Como norma general: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–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Usaremos etiquetas para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–"/>
            </a:pP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Usaremos atributos para almacenar </a:t>
            </a:r>
            <a:r>
              <a:rPr b="1"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metadatos </a:t>
            </a:r>
            <a:r>
              <a:rPr lang="es-E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(por ejemplo, id, código...)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1981" y="3310991"/>
            <a:ext cx="5702299" cy="33919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